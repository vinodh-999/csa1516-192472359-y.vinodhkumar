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63" r:id="rId2"/>
    <p:sldId id="256" r:id="rId3"/>
    <p:sldId id="257" r:id="rId4"/>
    <p:sldId id="258" r:id="rId5"/>
    <p:sldId id="264" r:id="rId6"/>
    <p:sldId id="259" r:id="rId7"/>
    <p:sldId id="261" r:id="rId8"/>
    <p:sldId id="262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350982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aws.amazon.com/s3/" TargetMode="External"/><Relationship Id="rId2" Type="http://schemas.openxmlformats.org/officeDocument/2006/relationships/hyperlink" Target="https://doi.org/10.1007/s40031-023-00983-z" TargetMode="Externa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1">
            <a:extLst>
              <a:ext uri="{FF2B5EF4-FFF2-40B4-BE49-F238E27FC236}">
                <a16:creationId xmlns:a16="http://schemas.microsoft.com/office/drawing/2014/main" id="{2BB6B2F5-B4E2-8371-F111-2CFDEC741375}"/>
              </a:ext>
            </a:extLst>
          </p:cNvPr>
          <p:cNvPicPr>
            <a:picLocks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083845" cy="156053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C3AE45D-E844-74BB-D169-587AC4389DBA}"/>
              </a:ext>
            </a:extLst>
          </p:cNvPr>
          <p:cNvSpPr txBox="1"/>
          <p:nvPr/>
        </p:nvSpPr>
        <p:spPr>
          <a:xfrm>
            <a:off x="2360645" y="2220686"/>
            <a:ext cx="5980922" cy="25379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E0B26FB-C02D-597C-63A1-D49D8BE880B6}"/>
              </a:ext>
            </a:extLst>
          </p:cNvPr>
          <p:cNvSpPr txBox="1"/>
          <p:nvPr/>
        </p:nvSpPr>
        <p:spPr>
          <a:xfrm>
            <a:off x="2295330" y="2631767"/>
            <a:ext cx="8791769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Cloud Storage Mechanisms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83791A2-9C6E-3566-A0AC-598445DDD3D6}"/>
              </a:ext>
            </a:extLst>
          </p:cNvPr>
          <p:cNvSpPr txBox="1"/>
          <p:nvPr/>
        </p:nvSpPr>
        <p:spPr>
          <a:xfrm>
            <a:off x="7847045" y="5134912"/>
            <a:ext cx="307910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NAME: Y.VINODHKUMAR</a:t>
            </a:r>
          </a:p>
          <a:p>
            <a:r>
              <a:rPr lang="en-IN" dirty="0"/>
              <a:t>REG.NO:192472359</a:t>
            </a:r>
          </a:p>
          <a:p>
            <a:endParaRPr lang="en-IN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1390B55-9E4A-516A-D108-5A5566B13CDD}"/>
              </a:ext>
            </a:extLst>
          </p:cNvPr>
          <p:cNvSpPr txBox="1"/>
          <p:nvPr/>
        </p:nvSpPr>
        <p:spPr>
          <a:xfrm>
            <a:off x="3554963" y="3514565"/>
            <a:ext cx="429208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kern="0" spc="2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CO1 · TECHNICAL PRESENTATION</a:t>
            </a:r>
            <a:endParaRPr lang="en-US" dirty="0"/>
          </a:p>
          <a:p>
            <a:endParaRPr lang="en-IN" dirty="0"/>
          </a:p>
        </p:txBody>
      </p:sp>
      <p:sp>
        <p:nvSpPr>
          <p:cNvPr id="16" name="Thought Bubble: Cloud 15">
            <a:extLst>
              <a:ext uri="{FF2B5EF4-FFF2-40B4-BE49-F238E27FC236}">
                <a16:creationId xmlns:a16="http://schemas.microsoft.com/office/drawing/2014/main" id="{066D83C5-27F9-A786-0D1C-3573BC8F6A62}"/>
              </a:ext>
            </a:extLst>
          </p:cNvPr>
          <p:cNvSpPr/>
          <p:nvPr/>
        </p:nvSpPr>
        <p:spPr>
          <a:xfrm>
            <a:off x="569167" y="4561983"/>
            <a:ext cx="2985796" cy="1658330"/>
          </a:xfrm>
          <a:prstGeom prst="cloudCallou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endParaRPr lang="en-US" dirty="0"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r>
              <a:rPr lang="en-US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How data is stored, managed, and accessed in the cloud</a:t>
            </a:r>
            <a:endParaRPr lang="en-US" dirty="0"/>
          </a:p>
          <a:p>
            <a:endParaRPr lang="en-IN" dirty="0"/>
          </a:p>
          <a:p>
            <a:pPr algn="ctr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155508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3"/>
          <p:cNvSpPr/>
          <p:nvPr/>
        </p:nvSpPr>
        <p:spPr>
          <a:xfrm>
            <a:off x="640080" y="1691640"/>
            <a:ext cx="10058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1371600" y="1959429"/>
            <a:ext cx="8595360" cy="237837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b="1" dirty="0">
                <a:solidFill>
                  <a:srgbClr val="02C39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Objective:  </a:t>
            </a:r>
            <a:r>
              <a:rPr lang="en-US" dirty="0">
                <a:solidFill>
                  <a:srgbClr val="E3EDF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Explain the mechanisms behind cloud data storage — how information is stored, managed, and retrieved — and connect these mechanisms to real infrastructure and industry practice.</a:t>
            </a:r>
          </a:p>
          <a:p>
            <a:pPr marL="0" indent="0">
              <a:lnSpc>
                <a:spcPts val="2100"/>
              </a:lnSpc>
              <a:buNone/>
            </a:pPr>
            <a:endParaRPr lang="en-US" dirty="0">
              <a:solidFill>
                <a:srgbClr val="E3EDF2"/>
              </a:solidFill>
              <a:latin typeface="Times New Roman" panose="02020603050405020304" pitchFamily="18" charset="0"/>
              <a:ea typeface="Calibri" pitchFamily="34" charset="-122"/>
              <a:cs typeface="Times New Roman" panose="02020603050405020304" pitchFamily="18" charset="0"/>
            </a:endParaRPr>
          </a:p>
          <a:p>
            <a:pPr>
              <a:lnSpc>
                <a:spcPts val="2100"/>
              </a:lnSpc>
            </a:pPr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explain what cloud storage is and how it differs from traditional local storage </a:t>
            </a:r>
          </a:p>
          <a:p>
            <a:pPr>
              <a:lnSpc>
                <a:spcPts val="2100"/>
              </a:lnSpc>
            </a:pPr>
            <a:endParaRPr lang="en-IN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ts val="2100"/>
              </a:lnSpc>
            </a:pPr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describe the key mechanisms involved in storing data in the cloud — chunking, distribution, replication, indexing, and retrieval</a:t>
            </a:r>
          </a:p>
          <a:p>
            <a:pPr>
              <a:lnSpc>
                <a:spcPts val="2100"/>
              </a:lnSpc>
            </a:pPr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>
              <a:lnSpc>
                <a:spcPts val="2100"/>
              </a:lnSpc>
            </a:pPr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identify the different types of cloud storage — object, block, and file storage — and when each is used</a:t>
            </a:r>
            <a:endParaRPr 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Cloud Storage?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2412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TECHNICAL EXPLANATION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56692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300"/>
              </a:lnSpc>
              <a:buNone/>
            </a:pPr>
            <a:r>
              <a:rPr lang="en-US" sz="1500" dirty="0">
                <a:solidFill>
                  <a:srgbClr val="17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storage is a service model that lets data be saved to remote servers </a:t>
            </a:r>
            <a:r>
              <a:rPr lang="en-US" sz="1500" b="1" dirty="0">
                <a:solidFill>
                  <a:srgbClr val="17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maintained, operated, and secured by a provider</a:t>
            </a:r>
            <a:r>
              <a:rPr lang="en-US" sz="1500" dirty="0">
                <a:solidFill>
                  <a:srgbClr val="17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and accessed by users over the internet instead of a local hard drive.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2788920"/>
            <a:ext cx="5669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300" i="1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provider handles the physical hardware, redundancy, and scaling — the user simply interacts with a storage interface.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583680" y="1417320"/>
            <a:ext cx="502920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DCE7EC"/>
            </a:solidFill>
            <a:prstDash val="solid"/>
          </a:ln>
          <a:effectLst>
            <a:outerShdw blurRad="76200" dist="25400" dir="5400000" algn="bl" rotWithShape="0">
              <a:srgbClr val="1B2A33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812280" y="1673352"/>
            <a:ext cx="594360" cy="59436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8" name="Image 0" descr="ic_cubes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0" y="1810512"/>
            <a:ext cx="320040" cy="32004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589520" y="1563624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 Storage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7589520" y="1920240"/>
            <a:ext cx="3886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stored as objects with metadata + a unique ID (e.g., Amazon S3).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6583680" y="3044952"/>
            <a:ext cx="502920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DCE7EC"/>
            </a:solidFill>
            <a:prstDash val="solid"/>
          </a:ln>
          <a:effectLst>
            <a:outerShdw blurRad="76200" dist="25400" dir="5400000" algn="bl" rotWithShape="0">
              <a:srgbClr val="1B2A33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812280" y="3300984"/>
            <a:ext cx="594360" cy="59436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3" name="Image 1" descr="ic_hdd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49440" y="3438144"/>
            <a:ext cx="320040" cy="32004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589520" y="3191256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Storage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7589520" y="3547872"/>
            <a:ext cx="3886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split into fixed-size blocks for high-speed database/VM use.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6583680" y="4672584"/>
            <a:ext cx="502920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DCE7EC"/>
            </a:solidFill>
            <a:prstDash val="solid"/>
          </a:ln>
          <a:effectLst>
            <a:outerShdw blurRad="76200" dist="25400" dir="5400000" algn="bl" rotWithShape="0">
              <a:srgbClr val="1B2A33">
                <a:alpha val="1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812280" y="4928616"/>
            <a:ext cx="594360" cy="59436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8" name="Image 2" descr="ic_file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49440" y="5065776"/>
            <a:ext cx="320040" cy="32004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7589520" y="4818888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Storage</a:t>
            </a:r>
            <a:endParaRPr lang="en-US" sz="1500" dirty="0"/>
          </a:p>
        </p:txBody>
      </p:sp>
      <p:sp>
        <p:nvSpPr>
          <p:cNvPr id="20" name="Text 15"/>
          <p:cNvSpPr/>
          <p:nvPr/>
        </p:nvSpPr>
        <p:spPr>
          <a:xfrm>
            <a:off x="7589520" y="5175504"/>
            <a:ext cx="3886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organized in a familiar folder/file hierarchy over a network.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Cloud Storage Works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2412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2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TECHNICAL EXPLANATION — THE STORAGE MECHANISM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2011680" cy="3200400"/>
          </a:xfrm>
          <a:prstGeom prst="roundRect">
            <a:avLst>
              <a:gd name="adj" fmla="val 3636"/>
            </a:avLst>
          </a:prstGeom>
          <a:solidFill>
            <a:srgbClr val="F4F8FA"/>
          </a:solidFill>
          <a:ln w="12700">
            <a:solidFill>
              <a:srgbClr val="E3EC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2057400"/>
            <a:ext cx="1097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C7D8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685800" y="2697480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2697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85800" y="333756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&amp; Chunking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85800" y="3794760"/>
            <a:ext cx="17373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file is split into smaller chunks or treated as an object with metadata.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761488" y="1920240"/>
            <a:ext cx="2011680" cy="32004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E3EC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898648" y="2057400"/>
            <a:ext cx="1097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C7D8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600" dirty="0"/>
          </a:p>
        </p:txBody>
      </p:sp>
      <p:sp>
        <p:nvSpPr>
          <p:cNvPr id="13" name="Shape 11"/>
          <p:cNvSpPr/>
          <p:nvPr/>
        </p:nvSpPr>
        <p:spPr>
          <a:xfrm>
            <a:off x="2898648" y="2697480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4" name="Text 12"/>
          <p:cNvSpPr/>
          <p:nvPr/>
        </p:nvSpPr>
        <p:spPr>
          <a:xfrm>
            <a:off x="2898648" y="2697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2898648" y="333756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2898648" y="3794760"/>
            <a:ext cx="17373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Chunks are sent across a network to storage nodes in one or more data centers.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754880" y="3291840"/>
            <a:ext cx="411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4974336" y="1920240"/>
            <a:ext cx="2011680" cy="3200400"/>
          </a:xfrm>
          <a:prstGeom prst="roundRect">
            <a:avLst>
              <a:gd name="adj" fmla="val 3636"/>
            </a:avLst>
          </a:prstGeom>
          <a:solidFill>
            <a:srgbClr val="F4F8FA"/>
          </a:solidFill>
          <a:ln w="12700">
            <a:solidFill>
              <a:srgbClr val="E3EC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111496" y="2057400"/>
            <a:ext cx="1097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C7D8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600" dirty="0"/>
          </a:p>
        </p:txBody>
      </p:sp>
      <p:sp>
        <p:nvSpPr>
          <p:cNvPr id="20" name="Shape 18"/>
          <p:cNvSpPr/>
          <p:nvPr/>
        </p:nvSpPr>
        <p:spPr>
          <a:xfrm>
            <a:off x="5111496" y="2697480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1" name="Text 19"/>
          <p:cNvSpPr/>
          <p:nvPr/>
        </p:nvSpPr>
        <p:spPr>
          <a:xfrm>
            <a:off x="5111496" y="2697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111496" y="333756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Replication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5111496" y="3794760"/>
            <a:ext cx="17373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Copies are written to multiple physical disks/locations for redundancy.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6967728" y="3291840"/>
            <a:ext cx="411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000" dirty="0"/>
          </a:p>
        </p:txBody>
      </p:sp>
      <p:sp>
        <p:nvSpPr>
          <p:cNvPr id="25" name="Shape 23"/>
          <p:cNvSpPr/>
          <p:nvPr/>
        </p:nvSpPr>
        <p:spPr>
          <a:xfrm>
            <a:off x="7187184" y="1920240"/>
            <a:ext cx="2011680" cy="32004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E3EC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324344" y="2057400"/>
            <a:ext cx="1097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C7D8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600" dirty="0"/>
          </a:p>
        </p:txBody>
      </p:sp>
      <p:sp>
        <p:nvSpPr>
          <p:cNvPr id="27" name="Shape 25"/>
          <p:cNvSpPr/>
          <p:nvPr/>
        </p:nvSpPr>
        <p:spPr>
          <a:xfrm>
            <a:off x="7324344" y="2697480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8" name="Text 26"/>
          <p:cNvSpPr/>
          <p:nvPr/>
        </p:nvSpPr>
        <p:spPr>
          <a:xfrm>
            <a:off x="7324344" y="2697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7324344" y="333756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Indexing</a:t>
            </a:r>
            <a:endParaRPr lang="en-US" sz="1350" dirty="0"/>
          </a:p>
        </p:txBody>
      </p:sp>
      <p:sp>
        <p:nvSpPr>
          <p:cNvPr id="30" name="Text 28"/>
          <p:cNvSpPr/>
          <p:nvPr/>
        </p:nvSpPr>
        <p:spPr>
          <a:xfrm>
            <a:off x="7324344" y="3794760"/>
            <a:ext cx="17373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metadata index records where each chunk lives for fast lookup.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9180576" y="3291840"/>
            <a:ext cx="411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000" dirty="0"/>
          </a:p>
        </p:txBody>
      </p:sp>
      <p:sp>
        <p:nvSpPr>
          <p:cNvPr id="32" name="Shape 30"/>
          <p:cNvSpPr/>
          <p:nvPr/>
        </p:nvSpPr>
        <p:spPr>
          <a:xfrm>
            <a:off x="9400032" y="1920240"/>
            <a:ext cx="2011680" cy="3200400"/>
          </a:xfrm>
          <a:prstGeom prst="roundRect">
            <a:avLst>
              <a:gd name="adj" fmla="val 3636"/>
            </a:avLst>
          </a:prstGeom>
          <a:solidFill>
            <a:srgbClr val="F4F8FA"/>
          </a:solidFill>
          <a:ln w="12700">
            <a:solidFill>
              <a:srgbClr val="E3EC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537192" y="2057400"/>
            <a:ext cx="1097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C7D8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600" dirty="0"/>
          </a:p>
        </p:txBody>
      </p:sp>
      <p:sp>
        <p:nvSpPr>
          <p:cNvPr id="34" name="Shape 32"/>
          <p:cNvSpPr/>
          <p:nvPr/>
        </p:nvSpPr>
        <p:spPr>
          <a:xfrm>
            <a:off x="9537192" y="2697480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5" name="Text 33"/>
          <p:cNvSpPr/>
          <p:nvPr/>
        </p:nvSpPr>
        <p:spPr>
          <a:xfrm>
            <a:off x="9537192" y="2697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9537192" y="333756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</a:t>
            </a:r>
            <a:endParaRPr lang="en-US" sz="1350" dirty="0"/>
          </a:p>
        </p:txBody>
      </p:sp>
      <p:sp>
        <p:nvSpPr>
          <p:cNvPr id="37" name="Text 35"/>
          <p:cNvSpPr/>
          <p:nvPr/>
        </p:nvSpPr>
        <p:spPr>
          <a:xfrm>
            <a:off x="9537192" y="3794760"/>
            <a:ext cx="17373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request, the system locates, reassembles, and streams data back via an API.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548640" y="5440680"/>
            <a:ext cx="10789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Behind the scenes, providers also run continuous integrity checks and automated failover so data stays available even if a disk or server fails.</a:t>
            </a:r>
            <a:endParaRPr lang="en-US" sz="1250" dirty="0"/>
          </a:p>
        </p:txBody>
      </p:sp>
      <p:sp>
        <p:nvSpPr>
          <p:cNvPr id="40" name="Text 38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9FF7568-F96C-233F-8A81-EC1CD7C42946}"/>
              </a:ext>
            </a:extLst>
          </p:cNvPr>
          <p:cNvSpPr txBox="1"/>
          <p:nvPr/>
        </p:nvSpPr>
        <p:spPr>
          <a:xfrm>
            <a:off x="765109" y="166436"/>
            <a:ext cx="10039739" cy="62818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lnSpc>
                <a:spcPct val="150000"/>
              </a:lnSpc>
              <a:buNone/>
            </a:pPr>
            <a:r>
              <a:rPr lang="en-IN" b="1" dirty="0"/>
              <a:t>References</a:t>
            </a:r>
          </a:p>
          <a:p>
            <a:pPr rtl="0">
              <a:lnSpc>
                <a:spcPct val="150000"/>
              </a:lnSpc>
              <a:buNone/>
            </a:pPr>
            <a:endParaRPr lang="en-IN" dirty="0"/>
          </a:p>
          <a:p>
            <a:pPr rtl="0">
              <a:lnSpc>
                <a:spcPct val="150000"/>
              </a:lnSpc>
              <a:buFont typeface="+mj-lt"/>
              <a:buAutoNum type="arabicPeriod"/>
            </a:pPr>
            <a:r>
              <a:rPr lang="en-IN" dirty="0"/>
              <a:t>Ghani, A., Badshah, A., Jan, S. U., </a:t>
            </a:r>
            <a:r>
              <a:rPr lang="en-IN" dirty="0" err="1"/>
              <a:t>Alshdadi</a:t>
            </a:r>
            <a:r>
              <a:rPr lang="en-IN" dirty="0"/>
              <a:t>, A. A., &amp; Daud, A. (2020). Issues and challenges in cloud storage architecture: A survey. </a:t>
            </a:r>
            <a:r>
              <a:rPr lang="en-IN" i="1" dirty="0" err="1"/>
              <a:t>Researchpedia</a:t>
            </a:r>
            <a:r>
              <a:rPr lang="en-IN" i="1" dirty="0"/>
              <a:t> Journal of Computing, 1</a:t>
            </a:r>
            <a:r>
              <a:rPr lang="en-IN" dirty="0"/>
              <a:t>(1), 50–65.</a:t>
            </a:r>
          </a:p>
          <a:p>
            <a:pPr rtl="0">
              <a:lnSpc>
                <a:spcPct val="150000"/>
              </a:lnSpc>
              <a:buFont typeface="+mj-lt"/>
              <a:buAutoNum type="arabicPeriod"/>
            </a:pPr>
            <a:r>
              <a:rPr lang="en-IN" dirty="0"/>
              <a:t>Jyoti, R., Kulkarni, S., &amp; </a:t>
            </a:r>
            <a:r>
              <a:rPr lang="en-IN" dirty="0" err="1"/>
              <a:t>Wanjale</a:t>
            </a:r>
            <a:r>
              <a:rPr lang="en-IN" dirty="0"/>
              <a:t>, K. (2021). A survey on different storage architectures. </a:t>
            </a:r>
            <a:r>
              <a:rPr lang="en-IN" i="1" dirty="0"/>
              <a:t>Journal of University of Shanghai for Science and Technology, 23</a:t>
            </a:r>
            <a:r>
              <a:rPr lang="en-IN" dirty="0"/>
              <a:t>(5), 791–796.</a:t>
            </a:r>
          </a:p>
          <a:p>
            <a:pPr rtl="0">
              <a:lnSpc>
                <a:spcPct val="150000"/>
              </a:lnSpc>
              <a:buFont typeface="+mj-lt"/>
              <a:buAutoNum type="arabicPeriod"/>
            </a:pPr>
            <a:r>
              <a:rPr lang="en-IN" dirty="0"/>
              <a:t>Tasnim, R., Mim, A. A., Mim, S. H., &amp; </a:t>
            </a:r>
            <a:r>
              <a:rPr lang="en-IN" dirty="0" err="1"/>
              <a:t>Jabiullah</a:t>
            </a:r>
            <a:r>
              <a:rPr lang="en-IN" dirty="0"/>
              <a:t>, M. I. (2022). A comparative study on three selective cloud providers. </a:t>
            </a:r>
            <a:r>
              <a:rPr lang="en-IN" i="1" dirty="0"/>
              <a:t>International Journal on Cybernetics &amp; Informatics, 11</a:t>
            </a:r>
            <a:r>
              <a:rPr lang="en-IN" dirty="0"/>
              <a:t>(4), 167–178.</a:t>
            </a:r>
          </a:p>
          <a:p>
            <a:pPr rtl="0">
              <a:lnSpc>
                <a:spcPct val="150000"/>
              </a:lnSpc>
              <a:buFont typeface="+mj-lt"/>
              <a:buAutoNum type="arabicPeriod"/>
            </a:pPr>
            <a:r>
              <a:rPr lang="en-IN" dirty="0" err="1"/>
              <a:t>Pardhikar</a:t>
            </a:r>
            <a:r>
              <a:rPr lang="en-IN" dirty="0"/>
              <a:t>, A., &amp; Adkar, P. (2023). A review paper on cloud storage. </a:t>
            </a:r>
            <a:r>
              <a:rPr lang="en-IN" i="1" dirty="0"/>
              <a:t>International Journal of Advanced Research in Computer and Communication Engineering, 12</a:t>
            </a:r>
            <a:r>
              <a:rPr lang="en-IN" dirty="0"/>
              <a:t>(6).</a:t>
            </a:r>
          </a:p>
          <a:p>
            <a:pPr rtl="0">
              <a:lnSpc>
                <a:spcPct val="150000"/>
              </a:lnSpc>
              <a:buFont typeface="+mj-lt"/>
              <a:buAutoNum type="arabicPeriod"/>
            </a:pPr>
            <a:r>
              <a:rPr lang="en-IN" dirty="0"/>
              <a:t>Mondal, A. S., Sanyal, M., Barua, H. B., Chattopadhyay, S., &amp; Mondal, K. C. (2024). Comparative analysis of object-based big data storage systems on architectures and services: A recent survey. </a:t>
            </a:r>
            <a:r>
              <a:rPr lang="en-IN" i="1" dirty="0"/>
              <a:t>Journal of The Institution of Engineers (India): Series B, 105</a:t>
            </a:r>
            <a:r>
              <a:rPr lang="en-IN" dirty="0"/>
              <a:t>, 685–700. </a:t>
            </a:r>
            <a:r>
              <a:rPr lang="en-IN" dirty="0">
                <a:hlinkClick r:id="rId2"/>
              </a:rPr>
              <a:t>https://doi.org/10.1007/s40031-023-00983-z</a:t>
            </a:r>
            <a:endParaRPr lang="en-IN" dirty="0"/>
          </a:p>
          <a:p>
            <a:pPr rtl="0">
              <a:lnSpc>
                <a:spcPct val="150000"/>
              </a:lnSpc>
              <a:buFont typeface="+mj-lt"/>
              <a:buAutoNum type="arabicPeriod"/>
            </a:pPr>
            <a:r>
              <a:rPr lang="en-IN" dirty="0"/>
              <a:t>Amazon Web Services. (2024). </a:t>
            </a:r>
            <a:r>
              <a:rPr lang="en-IN" i="1" dirty="0"/>
              <a:t>Amazon S3 – Cloud object storage</a:t>
            </a:r>
            <a:r>
              <a:rPr lang="en-IN" dirty="0"/>
              <a:t>. AWS Documentation. </a:t>
            </a:r>
            <a:r>
              <a:rPr lang="en-IN" dirty="0">
                <a:hlinkClick r:id="rId3"/>
              </a:rPr>
              <a:t>https://aws.amazon.com/s3/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103751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3268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2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/ PROCESS DIAGRAM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1828800" cy="1554480"/>
          </a:xfrm>
          <a:prstGeom prst="roundRect">
            <a:avLst>
              <a:gd name="adj" fmla="val 5882"/>
            </a:avLst>
          </a:prstGeom>
          <a:solidFill>
            <a:srgbClr val="1C7293"/>
          </a:solidFill>
          <a:ln/>
        </p:spPr>
      </p:sp>
      <p:pic>
        <p:nvPicPr>
          <p:cNvPr id="5" name="Image 0" descr="ic_server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2240280"/>
            <a:ext cx="640080" cy="6400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292608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Device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2514600" y="214884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AAB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 / API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2377440" y="2788920"/>
            <a:ext cx="1463040" cy="0"/>
          </a:xfrm>
          <a:prstGeom prst="line">
            <a:avLst/>
          </a:prstGeom>
          <a:noFill/>
          <a:ln w="25400">
            <a:solidFill>
              <a:srgbClr val="02C39A"/>
            </a:solidFill>
            <a:prstDash val="solid"/>
            <a:tailEnd type="triangle"/>
          </a:ln>
        </p:spPr>
      </p:sp>
      <p:sp>
        <p:nvSpPr>
          <p:cNvPr id="9" name="Shape 6"/>
          <p:cNvSpPr/>
          <p:nvPr/>
        </p:nvSpPr>
        <p:spPr>
          <a:xfrm>
            <a:off x="3886200" y="2011680"/>
            <a:ext cx="1828800" cy="1554480"/>
          </a:xfrm>
          <a:prstGeom prst="roundRect">
            <a:avLst>
              <a:gd name="adj" fmla="val 5882"/>
            </a:avLst>
          </a:prstGeom>
          <a:solidFill>
            <a:srgbClr val="065A82"/>
          </a:solidFill>
          <a:ln/>
        </p:spPr>
      </p:sp>
      <p:pic>
        <p:nvPicPr>
          <p:cNvPr id="10" name="Image 1" descr="ic_lock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26280" y="2240280"/>
            <a:ext cx="548640" cy="54864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886200" y="292608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Gateway &amp;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5715000" y="2788920"/>
            <a:ext cx="1097280" cy="0"/>
          </a:xfrm>
          <a:prstGeom prst="line">
            <a:avLst/>
          </a:prstGeom>
          <a:noFill/>
          <a:ln w="25400">
            <a:solidFill>
              <a:srgbClr val="02C39A"/>
            </a:solidFill>
            <a:prstDash val="solid"/>
            <a:tailEnd type="triangle"/>
          </a:ln>
        </p:spPr>
      </p:sp>
      <p:sp>
        <p:nvSpPr>
          <p:cNvPr id="13" name="Text 9"/>
          <p:cNvSpPr/>
          <p:nvPr/>
        </p:nvSpPr>
        <p:spPr>
          <a:xfrm>
            <a:off x="6995160" y="1417320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kern="0" spc="15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CLUSTER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6995160" y="1737360"/>
            <a:ext cx="4480560" cy="2377440"/>
          </a:xfrm>
          <a:prstGeom prst="roundRect">
            <a:avLst>
              <a:gd name="adj" fmla="val 3846"/>
            </a:avLst>
          </a:prstGeom>
          <a:solidFill>
            <a:srgbClr val="132560"/>
          </a:solidFill>
          <a:ln w="12700">
            <a:solidFill>
              <a:srgbClr val="2C3E7A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7223760" y="1965960"/>
            <a:ext cx="1234440" cy="1188720"/>
          </a:xfrm>
          <a:prstGeom prst="roundRect">
            <a:avLst>
              <a:gd name="adj" fmla="val 5385"/>
            </a:avLst>
          </a:prstGeom>
          <a:solidFill>
            <a:srgbClr val="1C7293"/>
          </a:solidFill>
          <a:ln/>
        </p:spPr>
      </p:sp>
      <p:pic>
        <p:nvPicPr>
          <p:cNvPr id="16" name="Image 2" descr="ic_database_blu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07808" y="2103120"/>
            <a:ext cx="457200" cy="45720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7223760" y="2606040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 A</a:t>
            </a:r>
            <a:endParaRPr lang="en-US" sz="1000" dirty="0"/>
          </a:p>
        </p:txBody>
      </p:sp>
      <p:sp>
        <p:nvSpPr>
          <p:cNvPr id="18" name="Shape 13"/>
          <p:cNvSpPr/>
          <p:nvPr/>
        </p:nvSpPr>
        <p:spPr>
          <a:xfrm>
            <a:off x="8686800" y="1965960"/>
            <a:ext cx="1234440" cy="1188720"/>
          </a:xfrm>
          <a:prstGeom prst="roundRect">
            <a:avLst>
              <a:gd name="adj" fmla="val 5385"/>
            </a:avLst>
          </a:prstGeom>
          <a:solidFill>
            <a:srgbClr val="1C7293"/>
          </a:solidFill>
          <a:ln/>
        </p:spPr>
      </p:sp>
      <p:pic>
        <p:nvPicPr>
          <p:cNvPr id="19" name="Image 3" descr="ic_database_blu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70848" y="2103120"/>
            <a:ext cx="457200" cy="45720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8686800" y="2606040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 B</a:t>
            </a:r>
            <a:endParaRPr lang="en-US" sz="1000" dirty="0"/>
          </a:p>
        </p:txBody>
      </p:sp>
      <p:sp>
        <p:nvSpPr>
          <p:cNvPr id="21" name="Shape 15"/>
          <p:cNvSpPr/>
          <p:nvPr/>
        </p:nvSpPr>
        <p:spPr>
          <a:xfrm>
            <a:off x="10149840" y="1965960"/>
            <a:ext cx="1234440" cy="1188720"/>
          </a:xfrm>
          <a:prstGeom prst="roundRect">
            <a:avLst>
              <a:gd name="adj" fmla="val 5385"/>
            </a:avLst>
          </a:prstGeom>
          <a:solidFill>
            <a:srgbClr val="1C7293"/>
          </a:solidFill>
          <a:ln/>
        </p:spPr>
      </p:sp>
      <p:pic>
        <p:nvPicPr>
          <p:cNvPr id="22" name="Image 4" descr="ic_database_blu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33888" y="2103120"/>
            <a:ext cx="457200" cy="45720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10149840" y="2606040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 C</a:t>
            </a:r>
            <a:endParaRPr lang="en-US" sz="1000" dirty="0"/>
          </a:p>
        </p:txBody>
      </p:sp>
      <p:pic>
        <p:nvPicPr>
          <p:cNvPr id="24" name="Image 5" descr="ic_sync_blu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15400" y="3337560"/>
            <a:ext cx="365760" cy="36576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6995160" y="3703320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AAB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replicated across availability zones</a:t>
            </a:r>
            <a:endParaRPr lang="en-US" sz="950" dirty="0"/>
          </a:p>
        </p:txBody>
      </p:sp>
      <p:sp>
        <p:nvSpPr>
          <p:cNvPr id="26" name="Shape 18"/>
          <p:cNvSpPr/>
          <p:nvPr/>
        </p:nvSpPr>
        <p:spPr>
          <a:xfrm>
            <a:off x="4800600" y="3566160"/>
            <a:ext cx="0" cy="822960"/>
          </a:xfrm>
          <a:prstGeom prst="line">
            <a:avLst/>
          </a:prstGeom>
          <a:noFill/>
          <a:ln w="19050">
            <a:solidFill>
              <a:srgbClr val="5C7A99"/>
            </a:solidFill>
            <a:prstDash val="dash"/>
          </a:ln>
        </p:spPr>
      </p:sp>
      <p:sp>
        <p:nvSpPr>
          <p:cNvPr id="27" name="Shape 19"/>
          <p:cNvSpPr/>
          <p:nvPr/>
        </p:nvSpPr>
        <p:spPr>
          <a:xfrm>
            <a:off x="3794760" y="4434840"/>
            <a:ext cx="2011680" cy="914400"/>
          </a:xfrm>
          <a:prstGeom prst="roundRect">
            <a:avLst>
              <a:gd name="adj" fmla="val 8000"/>
            </a:avLst>
          </a:prstGeom>
          <a:solidFill>
            <a:srgbClr val="0E3C55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8" name="Text 20"/>
          <p:cNvSpPr/>
          <p:nvPr/>
        </p:nvSpPr>
        <p:spPr>
          <a:xfrm>
            <a:off x="3794760" y="4553712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Metadata Index</a:t>
            </a:r>
            <a:endParaRPr lang="en-US" sz="1150" dirty="0"/>
          </a:p>
        </p:txBody>
      </p:sp>
      <p:sp>
        <p:nvSpPr>
          <p:cNvPr id="29" name="Text 21"/>
          <p:cNvSpPr/>
          <p:nvPr/>
        </p:nvSpPr>
        <p:spPr>
          <a:xfrm>
            <a:off x="3794760" y="4864608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AB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Tracks chunk location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AAB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fast retrieval</a:t>
            </a:r>
            <a:endParaRPr lang="en-US" sz="900" dirty="0"/>
          </a:p>
        </p:txBody>
      </p:sp>
      <p:sp>
        <p:nvSpPr>
          <p:cNvPr id="30" name="Shape 22"/>
          <p:cNvSpPr/>
          <p:nvPr/>
        </p:nvSpPr>
        <p:spPr>
          <a:xfrm>
            <a:off x="6995160" y="4709160"/>
            <a:ext cx="4480560" cy="685800"/>
          </a:xfrm>
          <a:prstGeom prst="roundRect">
            <a:avLst>
              <a:gd name="adj" fmla="val 10667"/>
            </a:avLst>
          </a:prstGeom>
          <a:solidFill>
            <a:srgbClr val="065A82">
              <a:alpha val="70000"/>
            </a:srgbClr>
          </a:solidFill>
          <a:ln w="12700">
            <a:solidFill>
              <a:srgbClr val="1C7293"/>
            </a:solidFill>
            <a:prstDash val="solid"/>
          </a:ln>
        </p:spPr>
      </p:sp>
      <p:pic>
        <p:nvPicPr>
          <p:cNvPr id="31" name="Image 6" descr="ic_network_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78040" y="4846320"/>
            <a:ext cx="384048" cy="384048"/>
          </a:xfrm>
          <a:prstGeom prst="rect">
            <a:avLst/>
          </a:prstGeom>
        </p:spPr>
      </p:pic>
      <p:sp>
        <p:nvSpPr>
          <p:cNvPr id="32" name="Text 23"/>
          <p:cNvSpPr/>
          <p:nvPr/>
        </p:nvSpPr>
        <p:spPr>
          <a:xfrm>
            <a:off x="7680960" y="4754880"/>
            <a:ext cx="3703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3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Distributed across geographically separate data centers for durability</a:t>
            </a:r>
            <a:endParaRPr lang="en-US" sz="950" dirty="0"/>
          </a:p>
        </p:txBody>
      </p:sp>
      <p:sp>
        <p:nvSpPr>
          <p:cNvPr id="34" name="Text 25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AB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Real-World Use Case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2412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2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S3 — OBJECT STORAGE AT SCALE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5852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450" dirty="0">
                <a:solidFill>
                  <a:srgbClr val="17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Simple Storage Service (S3) is a widely used cloud object-storage platform. Every file is stored as an object inside a </a:t>
            </a:r>
            <a:r>
              <a:rPr lang="en-US" sz="14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bucket</a:t>
            </a:r>
            <a:r>
              <a:rPr lang="en-US" sz="1450" dirty="0">
                <a:solidFill>
                  <a:srgbClr val="17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identified by a unique key, and accessed through a simple REST API.</a:t>
            </a:r>
            <a:endParaRPr lang="en-US" sz="1450" dirty="0"/>
          </a:p>
        </p:txBody>
      </p:sp>
      <p:pic>
        <p:nvPicPr>
          <p:cNvPr id="5" name="Image 0" descr="ic_check_mi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898648"/>
            <a:ext cx="201168" cy="20116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68680" y="2880360"/>
            <a:ext cx="5486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50" dirty="0">
                <a:solidFill>
                  <a:srgbClr val="17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Automatically replicates data across multiple facilities within a region</a:t>
            </a:r>
            <a:endParaRPr lang="en-US" sz="1250" dirty="0"/>
          </a:p>
        </p:txBody>
      </p:sp>
      <p:pic>
        <p:nvPicPr>
          <p:cNvPr id="7" name="Image 1" descr="ic_check_mi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493008"/>
            <a:ext cx="201168" cy="20116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68680" y="3474720"/>
            <a:ext cx="5486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50" dirty="0">
                <a:solidFill>
                  <a:srgbClr val="17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Offers storage tiers (Standard, Infrequent Access, Glacier) to balance cost and speed</a:t>
            </a:r>
            <a:endParaRPr lang="en-US" sz="1250" dirty="0"/>
          </a:p>
        </p:txBody>
      </p:sp>
      <p:pic>
        <p:nvPicPr>
          <p:cNvPr id="9" name="Image 2" descr="ic_check_mi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4087368"/>
            <a:ext cx="201168" cy="201168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68680" y="4069080"/>
            <a:ext cx="5486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50" dirty="0">
                <a:solidFill>
                  <a:srgbClr val="17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Scales automatically — no capacity planning required by the user</a:t>
            </a:r>
            <a:endParaRPr lang="en-US" sz="1250" dirty="0"/>
          </a:p>
        </p:txBody>
      </p:sp>
      <p:pic>
        <p:nvPicPr>
          <p:cNvPr id="11" name="Image 3" descr="ic_check_mi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4681728"/>
            <a:ext cx="201168" cy="201168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868680" y="4663440"/>
            <a:ext cx="5486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50" dirty="0">
                <a:solidFill>
                  <a:srgbClr val="17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by Netflix, Airbnb, and thousands of companies as backend storage</a:t>
            </a:r>
            <a:endParaRPr lang="en-US" sz="1250" dirty="0"/>
          </a:p>
        </p:txBody>
      </p:sp>
      <p:sp>
        <p:nvSpPr>
          <p:cNvPr id="13" name="Shape 7"/>
          <p:cNvSpPr/>
          <p:nvPr/>
        </p:nvSpPr>
        <p:spPr>
          <a:xfrm>
            <a:off x="6949440" y="1554480"/>
            <a:ext cx="4709160" cy="4297680"/>
          </a:xfrm>
          <a:prstGeom prst="roundRect">
            <a:avLst>
              <a:gd name="adj" fmla="val 2128"/>
            </a:avLst>
          </a:prstGeom>
          <a:solidFill>
            <a:srgbClr val="21295C"/>
          </a:solidFill>
          <a:ln/>
        </p:spPr>
      </p:sp>
      <p:pic>
        <p:nvPicPr>
          <p:cNvPr id="14" name="Image 4" descr="ic_cloud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69480" y="1828800"/>
            <a:ext cx="502920" cy="502920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7178040" y="2423160"/>
            <a:ext cx="4206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99.999999999%</a:t>
            </a:r>
            <a:endParaRPr lang="en-US" sz="3000" dirty="0"/>
          </a:p>
        </p:txBody>
      </p:sp>
      <p:sp>
        <p:nvSpPr>
          <p:cNvPr id="16" name="Text 9"/>
          <p:cNvSpPr/>
          <p:nvPr/>
        </p:nvSpPr>
        <p:spPr>
          <a:xfrm>
            <a:off x="7178040" y="3108960"/>
            <a:ext cx="4206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 durability ("11 nines") designed by storing redundant copies across facilities</a:t>
            </a:r>
            <a:endParaRPr lang="en-US" sz="1200" dirty="0"/>
          </a:p>
        </p:txBody>
      </p:sp>
      <p:sp>
        <p:nvSpPr>
          <p:cNvPr id="17" name="Shape 10"/>
          <p:cNvSpPr/>
          <p:nvPr/>
        </p:nvSpPr>
        <p:spPr>
          <a:xfrm>
            <a:off x="7178040" y="4023360"/>
            <a:ext cx="4206240" cy="0"/>
          </a:xfrm>
          <a:prstGeom prst="line">
            <a:avLst/>
          </a:prstGeom>
          <a:noFill/>
          <a:ln w="12700">
            <a:solidFill>
              <a:srgbClr val="3B5A78"/>
            </a:solidFill>
            <a:prstDash val="solid"/>
          </a:ln>
        </p:spPr>
      </p:sp>
      <p:sp>
        <p:nvSpPr>
          <p:cNvPr id="18" name="Text 11"/>
          <p:cNvSpPr/>
          <p:nvPr/>
        </p:nvSpPr>
        <p:spPr>
          <a:xfrm>
            <a:off x="7178040" y="416052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200+</a:t>
            </a:r>
            <a:endParaRPr lang="en-US" sz="2600" dirty="0"/>
          </a:p>
        </p:txBody>
      </p:sp>
      <p:sp>
        <p:nvSpPr>
          <p:cNvPr id="19" name="Text 12"/>
          <p:cNvSpPr/>
          <p:nvPr/>
        </p:nvSpPr>
        <p:spPr>
          <a:xfrm>
            <a:off x="7178040" y="4709160"/>
            <a:ext cx="4206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AAB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exabytes+ of data stored across S3 customers worldwide</a:t>
            </a:r>
            <a:endParaRPr lang="en-US" sz="1100" dirty="0"/>
          </a:p>
        </p:txBody>
      </p:sp>
      <p:sp>
        <p:nvSpPr>
          <p:cNvPr id="21" name="Text 14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640080" y="82296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 &amp; Key Takeaway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737360"/>
            <a:ext cx="102412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600"/>
              </a:lnSpc>
              <a:buNone/>
            </a:pPr>
            <a:r>
              <a:rPr lang="en-US" sz="1700" dirty="0">
                <a:solidFill>
                  <a:srgbClr val="E3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storage mechanisms — </a:t>
            </a:r>
            <a:r>
              <a:rPr lang="en-US" sz="17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chunking, distribution, replication, indexing, and API-based retrieval</a:t>
            </a:r>
            <a:r>
              <a:rPr lang="en-US" sz="1700" dirty="0">
                <a:solidFill>
                  <a:srgbClr val="E3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are what let providers offer storage that is durable, scalable, and instantly accessible from anywhere.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640080" y="324612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6" name="Image 0" descr="ic_layers_blu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3383280"/>
            <a:ext cx="237744" cy="23774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71600" y="3246120"/>
            <a:ext cx="8686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Object, block, and file storage each solve different needs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640080" y="402336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9" name="Image 1" descr="ic_shield_blu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4160520"/>
            <a:ext cx="237744" cy="23774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371600" y="4023360"/>
            <a:ext cx="8686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Replication and redundancy protect against hardware failure</a:t>
            </a:r>
            <a:endParaRPr lang="en-US" sz="1450" dirty="0"/>
          </a:p>
        </p:txBody>
      </p:sp>
      <p:sp>
        <p:nvSpPr>
          <p:cNvPr id="11" name="Shape 7"/>
          <p:cNvSpPr/>
          <p:nvPr/>
        </p:nvSpPr>
        <p:spPr>
          <a:xfrm>
            <a:off x="640080" y="480060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2" name="Image 2" descr="ic_bolt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4937760"/>
            <a:ext cx="237744" cy="237744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371600" y="4800600"/>
            <a:ext cx="8686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Well-designed storage scales elastically without user intervention</a:t>
            </a:r>
            <a:endParaRPr lang="en-US" sz="1450" dirty="0"/>
          </a:p>
        </p:txBody>
      </p:sp>
      <p:sp>
        <p:nvSpPr>
          <p:cNvPr id="14" name="Text 9"/>
          <p:cNvSpPr/>
          <p:nvPr/>
        </p:nvSpPr>
        <p:spPr>
          <a:xfrm>
            <a:off x="640080" y="580644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takeaway:  Reliable cloud storage is an engineering system, not just "space on the internet."</a:t>
            </a:r>
            <a:endParaRPr lang="en-US" sz="1400" dirty="0"/>
          </a:p>
        </p:txBody>
      </p:sp>
      <p:sp>
        <p:nvSpPr>
          <p:cNvPr id="16" name="Text 11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AB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884</Words>
  <Application>Microsoft Office PowerPoint</Application>
  <PresentationFormat>Widescreen</PresentationFormat>
  <Paragraphs>98</Paragraphs>
  <Slides>8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Cambria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yvinodh2006@outlook.com</cp:lastModifiedBy>
  <cp:revision>4</cp:revision>
  <dcterms:created xsi:type="dcterms:W3CDTF">2026-07-24T07:50:53Z</dcterms:created>
  <dcterms:modified xsi:type="dcterms:W3CDTF">2026-07-24T08:15:32Z</dcterms:modified>
</cp:coreProperties>
</file>